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board. Our due diligence reveals TellCo is an undervalued mobile asset. Over 54% of total traffic comes from gaming applications, representing an untapped revenue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 establishes the handset ecosystem. Apple and Samsung control 75.8% of devices. PCA proves that data volume is the single dominant component driving user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K-Means clustering with k=3, we identified that 10% of users consume over half of the network's capacity. These high-engagement users require tailored VIP retention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quality strongly correlates with handset capability. Premium LTE/5G handsets suffer 60% fewer TCP retransmissions than legacy 3G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Machine Learning regression model predicts subscriber satisfaction with near-perfect accuracy (R² = 0.9983). Throughput and engagement are the primary churn predictor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4.6 ensures enterprise durability. All analytical scores are saved to SQLite and tracked via MLOps pipelines for continuous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D97706"/>
                </a:solidFill>
              </a:defRPr>
            </a:pPr>
            <a:r>
              <a:t>📱 TellCo Telecommunication User Analytics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End-to-End Due Diligence, Machine Learning &amp; Subscriber Intelligence</a:t>
            </a:r>
          </a:p>
          <a:p>
            <a:pPr>
              <a:spcBef>
                <a:spcPts val="2500"/>
              </a:spcBef>
              <a:defRPr sz="1400">
                <a:solidFill>
                  <a:srgbClr val="94A3B8"/>
                </a:solidFill>
              </a:defRPr>
            </a:pPr>
            <a:r>
              <a:t>Prepared for Investment Evaluation in Republic of Pefkakia | Author: kakkarot23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Executive Briefing &amp; Investment Thesis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Valuation &amp; Monetization Opportunities for Wealth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Target Analysis: 106,893 active telecom subscribers in Republic of Pefkakia.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Market Share Leader: Apple handsets represent 41.1% of all active user devices.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Traffic Dominance: Over 54% of network volume is driven by Gaming &amp; Video streaming.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Monetization Gap: Current flat-rate tariffs miss out on high-volume traffic tiers.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Investment Recommendation: BUY — Potential +25-30% ARPU expansion via gaming tiers.</a:t>
            </a:r>
          </a:p>
        </p:txBody>
      </p:sp>
      <p:pic>
        <p:nvPicPr>
          <p:cNvPr id="4" name="Picture 3" descr="01_execut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Task 1: User Overview &amp; Handset Ecosystem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Exploratory Data Analysis, Decile Segmentation &amp; Principal Component Analysis (PCA)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Top Handsets: iPhone 12, Galaxy S20, iPhone 11 Pro lead network session volume.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Top Manufacturers: Apple (41.1%), Samsung (34.7%), Huawei (14.3%).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Decile Class Duration: Top 10% of power users consume &gt;42% of total session time.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PCA Dimensionality Reduction: PC1 (52.3% variance) captures traffic magnitude, PC2 (18.6%) captures duration.</a:t>
            </a:r>
          </a:p>
        </p:txBody>
      </p:sp>
      <p:pic>
        <p:nvPicPr>
          <p:cNvPr id="4" name="Picture 3" descr="02_task1_us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Task 2: User Engagement &amp; K-Means Clustering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Session Frequency, Duration &amp; Bandwidth Aggregation (k=3 Clusters)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Metrics Aggregated: Session Frequency, Total Duration (ms), Total Traffic Bytes.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K-Means Optimal k=3: Derived via Elbow Method curve inflection.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Cluster 0 (Low Engagement): 62% of subscribers (Baseline users).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Cluster 1 (Medium Engagement): 28% of subscribers (Regular streamers).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Cluster 2 (High Engagement / Power Users): 10% of subscribers (54% total traffic).</a:t>
            </a:r>
          </a:p>
        </p:txBody>
      </p:sp>
      <p:pic>
        <p:nvPicPr>
          <p:cNvPr id="4" name="Picture 3" descr="03_task2_user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Task 3: Experience Analytics &amp; Network Metrics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Throughput (kbps), TCP Retransmissions &amp; Latency RTT per Handset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Average Throughput: DL bearer throughput averages 12.4 Mbps (Apple: 14.2 Mbps).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TCP Retransmissions: Higher loss rates detected on budget 3G devices (&gt;450KB retransmissions).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RTT Latency: Average round-trip time is 52ms (Gaming sessions spike to 110ms during peak hours).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K-Means Experience Clusters: Classifies subscribers into Outstanding, Satisfactory, and Degraded Network Experience.</a:t>
            </a:r>
          </a:p>
        </p:txBody>
      </p:sp>
      <p:pic>
        <p:nvPicPr>
          <p:cNvPr id="4" name="Picture 3" descr="04_task3_experience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Task 4: Satisfaction Scoring &amp; ML Regression (R² = 0.9983)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Random Forest Predictive Model &amp; Score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Satisfaction Formula: Euclidean distance between Engagement &amp; Experience scores.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ML Performance: Random Forest Regression achieved R² = 0.9983 and RMSE = 0.0164.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Key Feature Drivers: Engagement Score (0.54 importance) &amp; Bearer Throughput (0.31 importance).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Satisfaction Clusters: K-Means k=2 segments subscribers into High Satisfaction (78%) vs Dissatisfied (22%).</a:t>
            </a:r>
          </a:p>
        </p:txBody>
      </p:sp>
      <p:pic>
        <p:nvPicPr>
          <p:cNvPr id="4" name="Picture 3" descr="05_task4_satisfaction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Task 4.6 &amp; MLOps: Database Export &amp; Experiment Tracking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SQLite Export, Custom SQL Execution &amp; MLflow Tracking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SQLite Exporter: Automatically writes user satisfaction metrics to data/tellco_analytics.db.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SQL Query Runner: Embedded interactive query engine for custom business reporting.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MLOps Experiment Tracker: Logs hyperparameters, RMSE, MSE, R² metrics, and model weights.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CI/CD Pipeline: Automated pytest test suite executing unit tests across data cleaning, engagement, and ML.</a:t>
            </a:r>
          </a:p>
        </p:txBody>
      </p:sp>
      <p:pic>
        <p:nvPicPr>
          <p:cNvPr id="4" name="Picture 3" descr="06_task4_6_database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383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Power BI Integration &amp; Final Investment Roadmap</a:t>
            </a:r>
          </a:p>
          <a:p>
            <a:pPr>
              <a:defRPr sz="1400">
                <a:solidFill>
                  <a:srgbClr val="D97706"/>
                </a:solidFill>
              </a:defRPr>
            </a:pPr>
            <a:r>
              <a:t>Star Schema Data Models, DAX Measures &amp; Strategic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Power BI Ecosystem: Created 1-click PBIDS, PBIP, and Star Schema tables (Fact_Subscriber_Sessions, Dim_Handset_Device).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DAX Measures: Pre-computed Gaming Traffic %, Throughput kbps, and Satisfaction Score index.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Strategic Action 1: Introduce gaming bandwidth prioritization packages (+15% revenue impact).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Strategic Action 2: Target 3G handset upgrade promo to transition budget users to 4G/5G.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Strategic Action 3: Deploy automated retention offers to subscribers with Satisfaction Score &lt; 0.40.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✔ Final Valuation Conclusion: STRONG BUY recommendation for TellCo Telecommunication.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